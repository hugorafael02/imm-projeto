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Urbanis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A74E6E-0777-4B55-9E62-4A1A313C88BD}">
  <a:tblStyle styleId="{02A74E6E-0777-4B55-9E62-4A1A313C88B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Urbanist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Urbanist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3f20bf5ba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3f20bf5ba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3f20bf5ba_4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3f20bf5ba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3f20bf5ba_4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3f20bf5ba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3f20bf5ba_4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3f20bf5ba_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3f20bf5ba_4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3f20bf5ba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10" Type="http://schemas.openxmlformats.org/officeDocument/2006/relationships/image" Target="../media/image5.png"/><Relationship Id="rId9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762000"/>
            <a:ext cx="52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Da massa à precisão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1150590"/>
            <a:ext cx="52008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Investimento por amizade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48027"/>
            <a:ext cx="4953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Saindo do "Tiro de Canhão" para a alavancagem cirúrgica de influência.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800100" y="4883943"/>
            <a:ext cx="472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O Ativo: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Algoritmo próprio para grafos massivos.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00100" y="5379243"/>
            <a:ext cx="472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 Meta: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Mover KRs de Aquisição (1MM) e Captação.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00100" y="5874543"/>
            <a:ext cx="4724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O Método: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Testes A/B rigorosos (Influência vs. Aleatoriedade).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32520"/>
            <a:ext cx="54768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381000" y="2128688"/>
            <a:ext cx="5750718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A "Pesca de Precisão"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381000" y="2612528"/>
            <a:ext cx="5476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Problema: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O marketing de massa tem alto custo e gera fadiga na base.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3412628"/>
            <a:ext cx="52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Hipótese: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Clientes centrais convertem </a:t>
            </a:r>
            <a:r>
              <a:rPr b="1" i="0" lang="en-US" sz="150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2x mais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que aleatórios.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95313" y="4075303"/>
            <a:ext cx="528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Alavanca: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Mesmo incentivo financeiro, maior retorno social.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95313" y="4522978"/>
            <a:ext cx="528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KPIs de Sucesso: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Taxa de Conversão &amp; CAC (Custo de Aquisição).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95313" y="5275453"/>
            <a:ext cx="528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Impacto: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Motor escalável para a meta de 1MM de investidores.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333375" y="3365003"/>
            <a:ext cx="57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357188" y="4027678"/>
            <a:ext cx="57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357188" y="4475353"/>
            <a:ext cx="57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357188" y="5227828"/>
            <a:ext cx="57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381000" y="381000"/>
            <a:ext cx="11811000" cy="5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Exp 1: Eficiência de Aquisição </a:t>
            </a:r>
            <a:r>
              <a:rPr b="1" i="0" lang="en-US" sz="360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(IMM vs. Aleatório)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381000" y="1074390"/>
            <a:ext cx="11430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117" name="Google Shape;11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32520"/>
            <a:ext cx="54768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381000" y="2128688"/>
            <a:ext cx="5750718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Quem traz mais dinheiro novo?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381000" y="2612528"/>
            <a:ext cx="5476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Quebra de Paradigma: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Ter dinheiro (AUM) não significa ter influência sobre os outros.</a:t>
            </a:r>
            <a:endParaRPr/>
          </a:p>
        </p:txBody>
      </p:sp>
      <p:pic>
        <p:nvPicPr>
          <p:cNvPr descr="image.png" id="125" name="Google Shape;1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1842045"/>
            <a:ext cx="54578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571500" y="3412628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O Teste: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Top Influenciadores (IMM) vs. Top Patrimônio (Ricos).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571500" y="4052689"/>
            <a:ext cx="528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Diferencial: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Foco no "Primeiro Aporte" e produtos de Valor (IA/IU/IP).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571500" y="4805164"/>
            <a:ext cx="528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Hipótese: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O "Líder de Opinião" convence sua rede a investir melhor.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571500" y="5557639"/>
            <a:ext cx="528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KPI: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Captação Líquida Incremental (</a:t>
            </a:r>
            <a:r>
              <a:rPr b="1" i="0" lang="en-US" sz="150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Net New Money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333375" y="3365003"/>
            <a:ext cx="57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333375" y="3937163"/>
            <a:ext cx="57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333375" y="4689638"/>
            <a:ext cx="57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333375" y="5442113"/>
            <a:ext cx="57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381000" y="381000"/>
            <a:ext cx="118110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Exp 2: Qualidade do Capital </a:t>
            </a:r>
            <a:r>
              <a:rPr b="1" i="0" lang="en-US" sz="360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(Influência vs. Patrimônio)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381000" y="1074390"/>
            <a:ext cx="11430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140" name="Google Shape;14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32520"/>
            <a:ext cx="54768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381000" y="2352526"/>
            <a:ext cx="5750718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Escalando Confiança ("Trust")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381000" y="2836366"/>
            <a:ext cx="5476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Problema: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Baixa conversão em abordagens frias para serviços complexos.</a:t>
            </a:r>
            <a:endParaRPr/>
          </a:p>
        </p:txBody>
      </p:sp>
      <p:pic>
        <p:nvPicPr>
          <p:cNvPr descr="image.png" id="148" name="Google Shape;1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1842045"/>
            <a:ext cx="54578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571500" y="3636466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Mecânica Híbrida: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Abordagem "White Glove" Humana → Convite VIP Digital.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571500" y="4388941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Lógica: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O aval do influenciador ("Meu especialista é ótimo") quebra a barreira de entrada.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571500" y="5141416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KPIs: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Engajamento com WS (Meta 50k) e Eficiência Comercial.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333375" y="3588841"/>
            <a:ext cx="57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333375" y="4341316"/>
            <a:ext cx="57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333375" y="5093791"/>
            <a:ext cx="57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381000" y="381000"/>
            <a:ext cx="11811000" cy="5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Exp 3: Adoção Viral de Serviço </a:t>
            </a:r>
            <a:r>
              <a:rPr b="1" i="0" lang="en-US" sz="360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(Wealth Specialist)</a:t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381000" y="1074390"/>
            <a:ext cx="11430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161" name="Google Shape;16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5965477"/>
            <a:ext cx="11430000" cy="735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4729" y="2700486"/>
            <a:ext cx="1009650" cy="434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4729" y="3877716"/>
            <a:ext cx="1733550" cy="434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34729" y="5054947"/>
            <a:ext cx="1571625" cy="434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/>
          <p:nvPr/>
        </p:nvSpPr>
        <p:spPr>
          <a:xfrm>
            <a:off x="381000" y="1441400"/>
            <a:ext cx="11430000" cy="4238327"/>
          </a:xfrm>
          <a:prstGeom prst="roundRect">
            <a:avLst>
              <a:gd fmla="val 0" name="adj"/>
            </a:avLst>
          </a:prstGeom>
          <a:solidFill>
            <a:srgbClr val="1A1A1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1" name="Google Shape;171;p21"/>
          <p:cNvGraphicFramePr/>
          <p:nvPr/>
        </p:nvGraphicFramePr>
        <p:xfrm>
          <a:off x="381000" y="1441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{02A74E6E-0777-4B55-9E62-4A1A313C88BD}</a:tableStyleId>
              </a:tblPr>
              <a:tblGrid>
                <a:gridCol w="2263225"/>
                <a:gridCol w="3134625"/>
                <a:gridCol w="2489600"/>
                <a:gridCol w="3542550"/>
              </a:tblGrid>
              <a:tr h="105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CCFF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Experimento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CCFF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Foco Principal (KR)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CCFF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Complexidade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CCFF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Potencial de Impacto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</a:tr>
              <a:tr h="105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 Aquisição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88888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MGM Digital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Volume de Clientes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b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Meta: 1MM</a:t>
                      </a:r>
                      <a:b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Baixa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100% Digital / WhatsApp</a:t>
                      </a:r>
                      <a:endParaRPr/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CFF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Alto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Redução drástica de CAC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2. Capital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88888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Net New Money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Captação Líquida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b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Produtos Valor (IA/IU)</a:t>
                      </a:r>
                      <a:b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Média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Tracking Financeiro</a:t>
                      </a:r>
                      <a:endParaRPr/>
                    </a:p>
                  </a:txBody>
                  <a:tcPr marT="25400" marB="25400" marR="63500" marL="352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CFF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Alto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Rentabilidade / Mix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3. Serviço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88888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Wealth Specialist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Engajamento &amp; Uso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b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 Meta: 50k Usuários</a:t>
                      </a:r>
                      <a:b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       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Alta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Envolve time humano</a:t>
                      </a:r>
                      <a:endParaRPr/>
                    </a:p>
                  </a:txBody>
                  <a:tcPr marT="25400" marB="25400" marR="63500" marL="352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Médio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Qualidade / LTV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21"/>
          <p:cNvSpPr txBox="1"/>
          <p:nvPr/>
        </p:nvSpPr>
        <p:spPr>
          <a:xfrm>
            <a:off x="581025" y="6165502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Recomendação:</a:t>
            </a: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Iniciar pelo </a:t>
            </a: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Experimento 1</a:t>
            </a: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pela velocidade de execução e validação imediata do modelo.</a:t>
            </a:r>
            <a:endParaRPr/>
          </a:p>
        </p:txBody>
      </p:sp>
      <p:pic>
        <p:nvPicPr>
          <p:cNvPr descr="image.png" id="173" name="Google Shape;17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0137" y="622265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/>
          <p:nvPr/>
        </p:nvSpPr>
        <p:spPr>
          <a:xfrm>
            <a:off x="381000" y="3320504"/>
            <a:ext cx="226322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2644229" y="3320504"/>
            <a:ext cx="313461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5778847" y="3320504"/>
            <a:ext cx="248959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8268444" y="3320504"/>
            <a:ext cx="35425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381000" y="4497734"/>
            <a:ext cx="226322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2644229" y="4497734"/>
            <a:ext cx="313461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5778847" y="4497734"/>
            <a:ext cx="248959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8268444" y="4497734"/>
            <a:ext cx="35425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2" name="Google Shape;18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69347" y="475967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69347" y="240521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69347" y="3582441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69347" y="240521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69347" y="3582441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69347" y="4759672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381000" y="157460"/>
            <a:ext cx="11811000" cy="5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Matriz de Decisão &amp; Próximos Passos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381000" y="850850"/>
            <a:ext cx="11430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